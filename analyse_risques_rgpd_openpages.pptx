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bc6a9f495c446c" /><Relationship Type="http://schemas.openxmlformats.org/package/2006/relationships/metadata/core-properties" Target="/docProps/core.xml" Id="Rfb93fd5310e34350" /><Relationship Type="http://schemas.openxmlformats.org/officeDocument/2006/relationships/extended-properties" Target="/docProps/app.xml" Id="R96ed0b09dab8467f" /><Relationship Type="http://schemas.openxmlformats.org/officeDocument/2006/relationships/custom-properties" Target="/docProps/custom.xml" Id="Rd0b34bada06f4b0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b59dae2c3bb433f"/>
    <p:sldId id="257" r:id="Rce2d01eb655547c2"/>
    <p:sldId id="258" r:id="Ra3c0812d3e984c03"/>
    <p:sldId id="259" r:id="R3dd552674c20472f"/>
    <p:sldId id="260" r:id="R7fc5257d268b472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b59dae2c3bb433f" /><Relationship Type="http://schemas.openxmlformats.org/officeDocument/2006/relationships/slide" Target="/ppt/slides/slide2.xml" Id="Rce2d01eb655547c2" /><Relationship Type="http://schemas.openxmlformats.org/officeDocument/2006/relationships/slide" Target="/ppt/slides/slide3.xml" Id="Ra3c0812d3e984c03" /><Relationship Type="http://schemas.openxmlformats.org/officeDocument/2006/relationships/slide" Target="/ppt/slides/slide4.xml" Id="R3dd552674c20472f" /><Relationship Type="http://schemas.openxmlformats.org/officeDocument/2006/relationships/slide" Target="/ppt/slides/slide5.xml" Id="R7fc5257d268b472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93d60a96148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21b0abde749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ef35ac5364e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54a9e50d24c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b6f8efd6845e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19c8bbdf07843b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e31c62ef04d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6ee2bbcff45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6c2a867a140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07211319d4e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190abb91644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1080000" y="1080000"/>
            <a:ext cx="79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/>
              <a:t>Cartographie &amp; Analyse des Risques RGPD</a:t>
            </a:r>
          </a:p>
          <a:p xmlns:a="http://schemas.openxmlformats.org/drawingml/2006/main">
            <a:r>
              <a:rPr lang="en-US" sz="2800"/>
              <a:t>OpenPages GRC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1080000" y="2880000"/>
            <a:ext cx="72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/>
              <a:t>Direction des Risques &amp; Conformité — Groupe La Poste</a:t>
            </a:r>
          </a:p>
          <a:p xmlns:a="http://schemas.openxmlformats.org/drawingml/2006/main">
            <a:r>
              <a:rPr lang="en-US" sz="1600"/>
              <a:t>Date : Février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2" name="TextBox 1"/>
          <p:cNvSpPr txBox="1"/>
          <p:nvPr/>
        </p:nvSpPr>
        <p:spPr>
          <a:xfrm xmlns:a="http://schemas.openxmlformats.org/drawingml/2006/main">
            <a:off x="720000" y="540000"/>
            <a:ext cx="79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/>
              <a:t>Synthèse Globale du Périmètre RGPD</a:t>
            </a:r>
          </a:p>
        </p:txBody>
      </p:sp>
      <p:sp>
        <p:nvSpPr>
          <p:cNvPr id="100003" name="TextBox 2"/>
          <p:cNvSpPr txBox="1"/>
          <p:nvPr/>
        </p:nvSpPr>
        <p:spPr>
          <a:xfrm xmlns:a="http://schemas.openxmlformats.org/drawingml/2006/main">
            <a:off x="720000" y="1260000"/>
            <a:ext cx="756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• Total fiches identifiées initialement : 33 fiches de risques</a:t>
            </a:r>
          </a:p>
          <a:p xmlns:a="http://schemas.openxmlformats.org/drawingml/2006/main">
            <a:r>
              <a:rPr lang="en-US" sz="1400"/>
              <a:t/>
            </a:r>
          </a:p>
          <a:p xmlns:a="http://schemas.openxmlformats.org/drawingml/2006/main">
            <a:r>
              <a:rPr lang="en-US" sz="1400"/>
              <a:t>• Répartition après qualification fine :</a:t>
            </a:r>
          </a:p>
          <a:p xmlns:a="http://schemas.openxmlformats.org/drawingml/2006/main">
            <a:r>
              <a:rPr lang="en-US" sz="1400"/>
              <a:t>   - 28 fiches (85%) : Strictement dédiées au RGPD et à la protection des DCP</a:t>
            </a:r>
          </a:p>
          <a:p xmlns:a="http://schemas.openxmlformats.org/drawingml/2006/main">
            <a:r>
              <a:rPr lang="en-US" sz="1400"/>
              <a:t>   - 3 fiches (9%) : Risques transverses intégrant un volet RGPD</a:t>
            </a:r>
          </a:p>
          <a:p xmlns:a="http://schemas.openxmlformats.org/drawingml/2006/main">
            <a:r>
              <a:rPr lang="en-US" sz="1400"/>
              <a:t>   - 2 fiches (6%) : Faux positifs exclus du périmètre</a:t>
            </a:r>
          </a:p>
          <a:p xmlns:a="http://schemas.openxmlformats.org/drawingml/2006/main">
            <a:r>
              <a:rPr lang="en-US" sz="1400"/>
              <a:t/>
            </a:r>
          </a:p>
          <a:p xmlns:a="http://schemas.openxmlformats.org/drawingml/2006/main">
            <a:r>
              <a:rPr lang="en-US" sz="1400"/>
              <a:t>• Détail des exclusions :</a:t>
            </a:r>
          </a:p>
          <a:p xmlns:a="http://schemas.openxmlformats.org/drawingml/2006/main">
            <a:r>
              <a:rPr lang="en-US" sz="1400"/>
              <a:t>   - RSK-02265 (ID 81011) : Fiche de test / Risques Cyber &amp; SSI</a:t>
            </a:r>
          </a:p>
          <a:p xmlns:a="http://schemas.openxmlformats.org/drawingml/2006/main">
            <a:r>
              <a:rPr lang="en-US" sz="1400"/>
              <a:t>   - RSK-01165 (ID 51202) : Code de conduite / règlement intérieur (excluant explicitement le RGPD)</a:t>
            </a:r>
          </a:p>
          <a:p xmlns:a="http://schemas.openxmlformats.org/drawingml/2006/main">
            <a:r>
              <a:rPr lang="en-US" sz="1400"/>
              <a:t/>
            </a:r>
          </a:p>
          <a:p xmlns:a="http://schemas.openxmlformats.org/drawingml/2006/main">
            <a:r>
              <a:rPr lang="en-US" sz="1400"/>
              <a:t>• Volume net opérationnel RGPD : 31 fiches sous surveillance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720000" y="540000"/>
            <a:ext cx="79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/>
              <a:t>Répartition Thématique des Risques RGPD (28 fiches)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720000" y="1152000"/>
            <a:ext cx="756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/>
              <a:t>1. Conservation &amp; Purge des DCP (7 fiches)</a:t>
            </a:r>
          </a:p>
          <a:p xmlns:a="http://schemas.openxmlformats.org/drawingml/2006/main">
            <a:r>
              <a:rPr lang="en-US" sz="1300"/>
              <a:t>   - Privacy by design, rétention excessive, absence d'anonymisation / purge (Docaposte, BGPN, DRHG)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2. Sécurité, Intégrité &amp; Fuites physiques (5 fiches)</a:t>
            </a:r>
          </a:p>
          <a:p xmlns:a="http://schemas.openxmlformats.org/drawingml/2006/main">
            <a:r>
              <a:rPr lang="en-US" sz="1300"/>
              <a:t>   - Altération de données, incidents physiques en bureau de poste, déménagements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3. Gestion des Droits des Personnes (4 fiches)</a:t>
            </a:r>
          </a:p>
          <a:p xmlns:a="http://schemas.openxmlformats.org/drawingml/2006/main">
            <a:r>
              <a:rPr lang="en-US" sz="1300"/>
              <a:t>   - Accès, rectification, effacement, respect du délai légal de 30 jours, orientation guichet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4. Violations de données &amp; Notifications CNIL (4 fiches)</a:t>
            </a:r>
          </a:p>
          <a:p xmlns:a="http://schemas.openxmlformats.org/drawingml/2006/main">
            <a:r>
              <a:rPr lang="en-US" sz="1300"/>
              <a:t>   - Notification &lt; 72h, mauvaise gestion des habilitations, défaut de déclaration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5. Gouvernance, DPO &amp; Conformité Traitements (4 fiches)</a:t>
            </a:r>
          </a:p>
          <a:p xmlns:a="http://schemas.openxmlformats.org/drawingml/2006/main">
            <a:r>
              <a:rPr lang="en-US" sz="1300"/>
              <a:t>   - Registre, AIPD, nouvelles activités, La Banque Postale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6. Cookies &amp; Traceurs (2 fiches)</a:t>
            </a:r>
          </a:p>
          <a:p xmlns:a="http://schemas.openxmlformats.org/drawingml/2006/main">
            <a:r>
              <a:rPr lang="en-US" sz="1300"/>
              <a:t>   - Bandeaux de consentement non conformes (sites RH, Marketshot)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7. Risques Cyber / Habilitations RH (2 fiches)</a:t>
            </a:r>
          </a:p>
          <a:p xmlns:a="http://schemas.openxmlformats.org/drawingml/2006/main">
            <a:r>
              <a:rPr lang="en-US" sz="1300"/>
              <a:t>   - Cyberattaque impactant les DCP, accès illégitimes RH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6" name="TextBox 1"/>
          <p:cNvSpPr txBox="1"/>
          <p:nvPr/>
        </p:nvSpPr>
        <p:spPr>
          <a:xfrm xmlns:a="http://schemas.openxmlformats.org/drawingml/2006/main">
            <a:off x="720000" y="540000"/>
            <a:ext cx="79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/>
              <a:t>Répartition par Entités et Directions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720000" y="1152000"/>
            <a:ext cx="756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/>
              <a:t>• Direction des Ressources Humaines Groupe (DRHG) — 5 fiches</a:t>
            </a:r>
          </a:p>
          <a:p xmlns:a="http://schemas.openxmlformats.org/drawingml/2006/main">
            <a:r>
              <a:rPr lang="en-US" sz="1300"/>
              <a:t>   - Durées de conservation RH, exercice des droits, notification violations CNIL, cookies RH, habilitations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• BGPN / Direction du Numérique / DIGIPOSTE — 9 fiches</a:t>
            </a:r>
          </a:p>
          <a:p xmlns:a="http://schemas.openxmlformats.org/drawingml/2006/main">
            <a:r>
              <a:rPr lang="en-US" sz="1300"/>
              <a:t>   - Traitements Digiposte, altération données SI, bandeau Marketshot, intégrité applicative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• Docaposte &amp; Filiales Métiers — 6 fiches</a:t>
            </a:r>
          </a:p>
          <a:p xmlns:a="http://schemas.openxmlformats.org/drawingml/2006/main">
            <a:r>
              <a:rPr lang="en-US" sz="1300"/>
              <a:t>   - Conservation des données clients/santé (Docaposte, HEVA, DJC), gestion des incidents de sécurité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• Réseau La Poste &amp; DMRO / LBP — 4 fiches</a:t>
            </a:r>
          </a:p>
          <a:p xmlns:a="http://schemas.openxmlformats.org/drawingml/2006/main">
            <a:r>
              <a:rPr lang="en-US" sz="1300"/>
              <a:t>   - Exercice des droits en bureau de poste, fuites physiques déménagements, habilitations commerciales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• Siège, DFIG &amp; DSI Groupe — 4 fiches</a:t>
            </a:r>
          </a:p>
          <a:p xmlns:a="http://schemas.openxmlformats.org/drawingml/2006/main">
            <a:r>
              <a:rPr lang="en-US" sz="1300"/>
              <a:t>   - Conformité DFIG, cybersécurité, conformité globale</a:t>
            </a:r>
          </a:p>
          <a:p xmlns:a="http://schemas.openxmlformats.org/drawingml/2006/main">
            <a:r>
              <a:rPr lang="en-US" sz="1300"/>
              <a:t/>
            </a:r>
          </a:p>
          <a:p xmlns:a="http://schemas.openxmlformats.org/drawingml/2006/main">
            <a:r>
              <a:rPr lang="en-US" sz="1300"/>
              <a:t>• Autres Filiales (La Poste Ventures, DNAS, Poste Immo) — 3 fiches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8" name="TextBox 1"/>
          <p:cNvSpPr txBox="1"/>
          <p:nvPr/>
        </p:nvSpPr>
        <p:spPr>
          <a:xfrm xmlns:a="http://schemas.openxmlformats.org/drawingml/2006/main">
            <a:off x="720000" y="540000"/>
            <a:ext cx="79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/>
              <a:t>Recommandations &amp; Actions Prioritaires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720000" y="1260000"/>
            <a:ext cx="756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1. Automatisation de la purge et de l'anonymisation</a:t>
            </a:r>
          </a:p>
          <a:p xmlns:a="http://schemas.openxmlformats.org/drawingml/2006/main">
            <a:r>
              <a:rPr lang="en-US" sz="1400"/>
              <a:t>   - Priorité n°1 (7 fiches concernées) : auditer les mécanismes de rétention des données.</a:t>
            </a:r>
          </a:p>
          <a:p xmlns:a="http://schemas.openxmlformats.org/drawingml/2006/main">
            <a:r>
              <a:rPr lang="en-US" sz="1400"/>
              <a:t/>
            </a:r>
          </a:p>
          <a:p xmlns:a="http://schemas.openxmlformats.org/drawingml/2006/main">
            <a:r>
              <a:rPr lang="en-US" sz="1400"/>
              <a:t>2. Renforcement du dispositif de notification CNIL &lt; 72h</a:t>
            </a:r>
          </a:p>
          <a:p xmlns:a="http://schemas.openxmlformats.org/drawingml/2006/main">
            <a:r>
              <a:rPr lang="en-US" sz="1400"/>
              <a:t>   - Fluidifier la chaîne d'alerte et de qualification des incidents de sécurité impliquant des DCP.</a:t>
            </a:r>
          </a:p>
          <a:p xmlns:a="http://schemas.openxmlformats.org/drawingml/2006/main">
            <a:r>
              <a:rPr lang="en-US" sz="1400"/>
              <a:t/>
            </a:r>
          </a:p>
          <a:p xmlns:a="http://schemas.openxmlformats.org/drawingml/2006/main">
            <a:r>
              <a:rPr lang="en-US" sz="1400"/>
              <a:t>3. Harmonisation du traitement de l'exercice des droits</a:t>
            </a:r>
          </a:p>
          <a:p xmlns:a="http://schemas.openxmlformats.org/drawingml/2006/main">
            <a:r>
              <a:rPr lang="en-US" sz="1400"/>
              <a:t>   - Garantir le délai de réponse sous 30 jours, notamment pour les demandes initiées en bureau de poste.</a:t>
            </a:r>
          </a:p>
          <a:p xmlns:a="http://schemas.openxmlformats.org/drawingml/2006/main">
            <a:r>
              <a:rPr lang="en-US" sz="1400"/>
              <a:t/>
            </a:r>
          </a:p>
          <a:p xmlns:a="http://schemas.openxmlformats.org/drawingml/2006/main">
            <a:r>
              <a:rPr lang="en-US" sz="1400"/>
              <a:t>4. Nettoyage et qualification continue dans OpenPages</a:t>
            </a:r>
          </a:p>
          <a:p xmlns:a="http://schemas.openxmlformats.org/drawingml/2006/main">
            <a:r>
              <a:rPr lang="en-US" sz="1400"/>
              <a:t>   - Reclassifier la fiche RSK-02265 (Cyber/SSI) et affiner les tags catégoriels RGPD.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2026-09-23T13:46:55Z</dcterms:created>
  <cp:lastModifiedBy>OfficeCLI</cp:lastModifiedBy>
  <dcterms:modified xsi:type="dcterms:W3CDTF">2026-09-23T13:46:55Z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2026-09-23T13:47:29Z</vt:lpwstr>
  </op:property>
</op:Properties>
</file>